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C7EDE5-7494-47AE-9F34-8B98322490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D2E950-AA91-4739-A0F9-26649B6F89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89BABA9-06FB-410E-8D38-AB39D26CFF2D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C1D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4140000"/>
            <a:ext cx="10080000" cy="216000"/>
          </a:xfrm>
          <a:prstGeom prst="rect">
            <a:avLst/>
          </a:prstGeom>
          <a:solidFill>
            <a:srgbClr val="D96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20000" y="144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4400" b="0" u="none" strike="noStrike">
                <a:solidFill>
                  <a:srgbClr val="ECE5D6"/>
                </a:solidFill>
                <a:effectLst/>
                <a:uFillTx/>
                <a:latin typeface="Arial"/>
              </a:rPr>
              <a:t>Quarterly review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0000" y="2592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2400" b="0" u="none" strike="noStrike">
                <a:solidFill>
                  <a:srgbClr val="ECE5D6"/>
                </a:solidFill>
                <a:effectLst/>
                <a:uFillTx/>
                <a:latin typeface="Arial"/>
              </a:rPr>
              <a:t>ACME Industries · Q3 2026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40000" y="288000"/>
            <a:ext cx="90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3200" b="0" u="none" strike="noStrike">
                <a:solidFill>
                  <a:srgbClr val="1C1D21"/>
                </a:solidFill>
                <a:effectLst/>
                <a:uFillTx/>
                <a:latin typeface="Arial"/>
              </a:rPr>
              <a:t>Highlights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40000" y="1152000"/>
            <a:ext cx="4680000" cy="36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2000" b="0" u="none" strike="noStrike">
                <a:solidFill>
                  <a:srgbClr val="1C1D21"/>
                </a:solidFill>
                <a:effectLst/>
                <a:uFillTx/>
                <a:latin typeface="Arial"/>
              </a:rPr>
              <a:t>• Orders up 18% on Q2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2000" b="0" u="none" strike="noStrike">
                <a:solidFill>
                  <a:srgbClr val="1C1D21"/>
                </a:solidFill>
                <a:effectLst/>
                <a:uFillTx/>
                <a:latin typeface="Arial"/>
              </a:rPr>
              <a:t>• Two new distributors in the Nordics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2000" b="0" u="none" strike="noStrike">
                <a:solidFill>
                  <a:srgbClr val="1C1D21"/>
                </a:solidFill>
                <a:effectLst/>
                <a:uFillTx/>
                <a:latin typeface="Arial"/>
              </a:rPr>
              <a:t>• Press line HP-40 in production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2000" b="0" u="none" strike="noStrike">
                <a:solidFill>
                  <a:srgbClr val="1C1D21"/>
                </a:solidFill>
                <a:effectLst/>
                <a:uFillTx/>
                <a:latin typeface="Arial"/>
              </a:rPr>
              <a:t>• Warranty claims down to 0.4%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5580000" y="1152000"/>
            <a:ext cx="3960000" cy="263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540000" y="288000"/>
            <a:ext cx="90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3200" b="0" u="none" strike="noStrike">
                <a:solidFill>
                  <a:srgbClr val="1C1D21"/>
                </a:solidFill>
                <a:effectLst/>
                <a:uFillTx/>
                <a:latin typeface="Arial"/>
              </a:rPr>
              <a:t>Revenue by region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080000" y="2520000"/>
            <a:ext cx="1260000" cy="2160000"/>
          </a:xfrm>
          <a:prstGeom prst="rect">
            <a:avLst/>
          </a:prstGeom>
          <a:solidFill>
            <a:srgbClr val="1C1D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936000" y="4752000"/>
            <a:ext cx="1620000" cy="43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600" b="0" u="none" strike="noStrike">
                <a:solidFill>
                  <a:srgbClr val="1C1D21"/>
                </a:solidFill>
                <a:effectLst/>
                <a:uFillTx/>
                <a:latin typeface="Arial"/>
              </a:rPr>
              <a:t>North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060000" y="1620000"/>
            <a:ext cx="1260000" cy="3060000"/>
          </a:xfrm>
          <a:prstGeom prst="rect">
            <a:avLst/>
          </a:prstGeom>
          <a:solidFill>
            <a:srgbClr val="D96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916000" y="4752000"/>
            <a:ext cx="1620000" cy="43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600" b="0" u="none" strike="noStrike">
                <a:solidFill>
                  <a:srgbClr val="1C1D21"/>
                </a:solidFill>
                <a:effectLst/>
                <a:uFillTx/>
                <a:latin typeface="Arial"/>
              </a:rPr>
              <a:t>South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040000" y="3168000"/>
            <a:ext cx="1260000" cy="1512000"/>
          </a:xfrm>
          <a:prstGeom prst="rect">
            <a:avLst/>
          </a:prstGeom>
          <a:solidFill>
            <a:srgbClr val="1C1D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896000" y="4752000"/>
            <a:ext cx="1620000" cy="43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600" b="0" u="none" strike="noStrike">
                <a:solidFill>
                  <a:srgbClr val="1C1D21"/>
                </a:solidFill>
                <a:effectLst/>
                <a:uFillTx/>
                <a:latin typeface="Arial"/>
              </a:rPr>
              <a:t>East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020000" y="2124000"/>
            <a:ext cx="1260000" cy="2556000"/>
          </a:xfrm>
          <a:prstGeom prst="rect">
            <a:avLst/>
          </a:prstGeom>
          <a:solidFill>
            <a:srgbClr val="D966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876000" y="4752000"/>
            <a:ext cx="1620000" cy="43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IN" sz="1600" b="0" u="none" strike="noStrike">
                <a:solidFill>
                  <a:srgbClr val="1C1D21"/>
                </a:solidFill>
                <a:effectLst/>
                <a:uFillTx/>
                <a:latin typeface="Arial"/>
              </a:rPr>
              <a:t>West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